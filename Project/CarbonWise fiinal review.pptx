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7909560" y="1051560"/>
            <a:ext cx="3246120" cy="3246120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49640" y="1645920"/>
            <a:ext cx="2011680" cy="2011680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0" y="2240280"/>
            <a:ext cx="914400" cy="914400"/>
          </a:xfrm>
          <a:prstGeom prst="ellipse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73184" y="2834640"/>
            <a:ext cx="73152" cy="13716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32520" y="3017520"/>
            <a:ext cx="1005840" cy="438912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64040" y="3337560"/>
            <a:ext cx="1143000" cy="457200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"/>
            <a:ext cx="61264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6F4B"/>
                </a:solidFill>
                <a:latin typeface="Aptos"/>
              </a:rPr>
              <a:t>MACHINE LEARNING  •  A.Y. 2026–27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143000"/>
            <a:ext cx="6492240" cy="8229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343027"/>
                </a:solidFill>
                <a:latin typeface="Aptos"/>
              </a:rPr>
              <a:t>CarbonWise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57400"/>
            <a:ext cx="6675120" cy="10058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3E6F4B"/>
                </a:solidFill>
                <a:latin typeface="Aptos"/>
              </a:rPr>
              <a:t>Area-Level Carbon Emission Prediction
Using Elastic Net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630936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6052"/>
                </a:solidFill>
                <a:latin typeface="Aptos"/>
              </a:rPr>
              <a:t>A web-based project that estimates monthly CO₂e from area activity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33087"/>
            <a:ext cx="6126480" cy="18288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64008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3027"/>
                </a:solidFill>
                <a:latin typeface="Aptos"/>
              </a:rPr>
              <a:t>N. SaiNath Reddy  •  2520090115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64008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3027"/>
                </a:solidFill>
                <a:latin typeface="Aptos"/>
              </a:rPr>
              <a:t>T. Sai Krishna  •  2520090156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64008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3027"/>
                </a:solidFill>
                <a:latin typeface="Aptos"/>
              </a:rPr>
              <a:t>P. Suvishal Patel  •  2520090195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96128"/>
            <a:ext cx="6766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Guide: Dr. Dyuthi Banerjee  |  Department of CS&amp;IT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676656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6F4B"/>
                </a:solidFill>
                <a:latin typeface="Aptos"/>
              </a:rPr>
              <a:t>KL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CarbonWise brings a small machine-learning model and a simple website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55648"/>
            <a:ext cx="1069848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3027"/>
                </a:solidFill>
                <a:latin typeface="Aptos"/>
              </a:rPr>
              <a:t>The user enters four area activity values. The saved model returns an estimated monthly emissions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1460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514600"/>
            <a:ext cx="54864" cy="1170432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8952" y="26974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7157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6791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Area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13639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Population, electricity, fuel and transport.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51460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514600"/>
            <a:ext cx="54864" cy="1170432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62272" y="26974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7157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6791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13639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The dataset is checked before model training.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51460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2514600"/>
            <a:ext cx="54864" cy="1170432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65592" y="26974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27157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6791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Feature scaling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313639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StandardScaler puts values on comparable scales.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93192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3931920"/>
            <a:ext cx="54864" cy="1170432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8952" y="411480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4133087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7592" y="4096511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Prediction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55371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Elastic Net estimates a continuous value.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93192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3931920"/>
            <a:ext cx="54864" cy="1170432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462272" y="411480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62272" y="4133087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096511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Web connection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455371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Flask connects the model to the browser.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931920"/>
            <a:ext cx="3429000" cy="1170432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01000" y="3931920"/>
            <a:ext cx="54864" cy="1170432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65592" y="411480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65592" y="4133087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4096511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Clear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2168" y="4553712"/>
            <a:ext cx="3044952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The result is shown as monthly CO₂e.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dirty="0">
                <a:solidFill>
                  <a:srgbClr val="343027"/>
                </a:solidFill>
                <a:latin typeface="Aptos"/>
              </a:rPr>
              <a:t>Why </a:t>
            </a:r>
            <a:r>
              <a:rPr sz="2700" b="0" dirty="0" err="1">
                <a:solidFill>
                  <a:srgbClr val="343027"/>
                </a:solidFill>
                <a:latin typeface="Aptos"/>
              </a:rPr>
              <a:t>CarbonWise</a:t>
            </a:r>
            <a:r>
              <a:rPr sz="2700" b="0" dirty="0">
                <a:solidFill>
                  <a:srgbClr val="343027"/>
                </a:solidFill>
                <a:latin typeface="Aptos"/>
              </a:rPr>
              <a:t>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Estimating emissions can be confusing when inputs come from different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880360" cy="8686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4864" cy="86868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" y="18745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928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01368"/>
            <a:ext cx="20116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>
                <a:solidFill>
                  <a:srgbClr val="30302B"/>
                </a:solidFill>
                <a:latin typeface="Aptos"/>
              </a:rPr>
              <a:t>Different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" y="2148840"/>
            <a:ext cx="24963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900" b="0" dirty="0">
                <a:solidFill>
                  <a:srgbClr val="30302B"/>
                </a:solidFill>
                <a:latin typeface="Aptos"/>
              </a:rPr>
              <a:t>Electricity, fuel and transport use different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2880360" cy="8686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761488"/>
            <a:ext cx="54864" cy="86868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4672" y="2944368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962656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871216"/>
            <a:ext cx="20116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>
                <a:solidFill>
                  <a:srgbClr val="30302B"/>
                </a:solidFill>
                <a:latin typeface="Aptos"/>
              </a:rPr>
              <a:t>Manual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250692"/>
            <a:ext cx="24963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900" b="0" dirty="0">
                <a:solidFill>
                  <a:srgbClr val="30302B"/>
                </a:solidFill>
                <a:latin typeface="Aptos"/>
              </a:rPr>
              <a:t>Repeated calculations can take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31336"/>
            <a:ext cx="2880360" cy="8686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831336"/>
            <a:ext cx="54864" cy="868680"/>
          </a:xfrm>
          <a:prstGeom prst="rect">
            <a:avLst/>
          </a:prstGeom>
          <a:solidFill>
            <a:srgbClr val="A35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2" y="4014216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032504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A35841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4732" y="3904488"/>
            <a:ext cx="20116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>
                <a:solidFill>
                  <a:srgbClr val="30302B"/>
                </a:solidFill>
                <a:latin typeface="Aptos"/>
              </a:rPr>
              <a:t>Uneven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320540"/>
            <a:ext cx="24963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900" b="0" dirty="0">
                <a:solidFill>
                  <a:srgbClr val="30302B"/>
                </a:solidFill>
                <a:latin typeface="Aptos"/>
              </a:rPr>
              <a:t>Inputs need consistent checking and preparation.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01184"/>
            <a:ext cx="2880360" cy="8686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901184"/>
            <a:ext cx="54864" cy="868680"/>
          </a:xfrm>
          <a:prstGeom prst="rect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4672" y="5084064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102352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68915C"/>
                </a:solidFill>
                <a:latin typeface="Aptos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010912"/>
            <a:ext cx="20116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1">
                <a:solidFill>
                  <a:srgbClr val="30302B"/>
                </a:solidFill>
                <a:latin typeface="Aptos"/>
              </a:rPr>
              <a:t>Hard to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376672"/>
            <a:ext cx="249631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900" b="0" dirty="0">
                <a:solidFill>
                  <a:srgbClr val="30302B"/>
                </a:solidFill>
                <a:latin typeface="Aptos"/>
              </a:rPr>
              <a:t>A user may not know how to run an ML script.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1737360"/>
            <a:ext cx="7040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43027"/>
                </a:solidFill>
                <a:latin typeface="Aptos"/>
              </a:rPr>
              <a:t>CarbonWise turns the task into one clear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2331720"/>
            <a:ext cx="1600200" cy="13258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77639" y="2331720"/>
            <a:ext cx="54864" cy="132588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44567" y="2432304"/>
            <a:ext cx="438912" cy="32918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44567" y="2432304"/>
            <a:ext cx="438912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30302B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7" y="2816352"/>
            <a:ext cx="137160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Enter 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7" y="3200400"/>
            <a:ext cx="137160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Area activity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05272" y="3200400"/>
            <a:ext cx="219456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897880" y="2514600"/>
            <a:ext cx="1600200" cy="14173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897880" y="2514600"/>
            <a:ext cx="54864" cy="141732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64808" y="2432304"/>
            <a:ext cx="438912" cy="32918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64808" y="2432304"/>
            <a:ext cx="438912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30302B"/>
                </a:solidFill>
                <a:latin typeface="Apto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7608" y="2816352"/>
            <a:ext cx="137160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Prepare inputs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7608" y="3200400"/>
            <a:ext cx="137160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Check + scale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25512" y="3200400"/>
            <a:ext cx="219456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818120" y="2514600"/>
            <a:ext cx="1600200" cy="14173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818120" y="2514600"/>
            <a:ext cx="54864" cy="141732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385048" y="2432304"/>
            <a:ext cx="438912" cy="32918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85048" y="2432304"/>
            <a:ext cx="438912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30302B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7848" y="2816352"/>
            <a:ext cx="137160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Predict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7848" y="3200400"/>
            <a:ext cx="137160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Elastic Net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445752" y="3200400"/>
            <a:ext cx="219456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738360" y="2514600"/>
            <a:ext cx="1600200" cy="14173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38360" y="2514600"/>
            <a:ext cx="54864" cy="141732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305288" y="2432304"/>
            <a:ext cx="438912" cy="32918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05288" y="2432304"/>
            <a:ext cx="438912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30302B"/>
                </a:solidFill>
                <a:latin typeface="Aptos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48088" y="2816352"/>
            <a:ext cx="137160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View result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48088" y="3200400"/>
            <a:ext cx="1371600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Monthly CO₂e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7639" y="4343400"/>
            <a:ext cx="6949440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The website makes the model easier to use, while the estimate remains limited by the quality of the synthetic training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The goal is to build a complete learning prototype, from data preparation to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37943"/>
            <a:ext cx="420624" cy="42062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42062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83080"/>
            <a:ext cx="214884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Prepare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83080"/>
            <a:ext cx="731520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Use a stored synthetic dataset with the selected input fields.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" y="2240280"/>
            <a:ext cx="22860" cy="320040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" y="2670048"/>
            <a:ext cx="420624" cy="42062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1"/>
            <a:ext cx="42062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615184"/>
            <a:ext cx="214884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Train 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15184"/>
            <a:ext cx="731520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Fit Elastic Net Regression with feature scaling.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" y="3072384"/>
            <a:ext cx="22860" cy="320040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3502152"/>
            <a:ext cx="420624" cy="42062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511296"/>
            <a:ext cx="42062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447288"/>
            <a:ext cx="214884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Check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47288"/>
            <a:ext cx="731520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Measure predictions using R², MAE and RMSE.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" y="3904487"/>
            <a:ext cx="22860" cy="320040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4334255"/>
            <a:ext cx="420624" cy="42062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42062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79392"/>
            <a:ext cx="214884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Build a website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279392"/>
            <a:ext cx="731520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Let users submit inputs without running Python scripts.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" y="4736592"/>
            <a:ext cx="22860" cy="320040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1520" y="5166359"/>
            <a:ext cx="420624" cy="420624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175504"/>
            <a:ext cx="420624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111496"/>
            <a:ext cx="214884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Explain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111496"/>
            <a:ext cx="7315200" cy="49377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052"/>
                </a:solidFill>
                <a:latin typeface="Aptos"/>
              </a:rPr>
              <a:t>Make clear that the current data are for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Dataset and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The prototype uses four input fields and one synthetic target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257800" cy="1298448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1298448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59" y="19659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984248"/>
            <a:ext cx="43891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6946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47672"/>
            <a:ext cx="4389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04872"/>
            <a:ext cx="4873752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00" b="0">
                <a:solidFill>
                  <a:srgbClr val="30302B"/>
                </a:solidFill>
                <a:latin typeface="Aptos"/>
              </a:rPr>
              <a:t>Number of people living in the area.</a:t>
            </a:r>
          </a:p>
          <a:p>
            <a:r>
              <a:rPr sz="1100" b="0">
                <a:solidFill>
                  <a:srgbClr val="30302B"/>
                </a:solidFill>
                <a:latin typeface="Aptos"/>
              </a:rPr>
              <a:t>Example: 500 people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783080"/>
            <a:ext cx="5257800" cy="1298448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1783080"/>
            <a:ext cx="54864" cy="1298448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46520" y="19659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984248"/>
            <a:ext cx="43891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6946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947672"/>
            <a:ext cx="4389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Electricity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404872"/>
            <a:ext cx="4873752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00" b="0">
                <a:solidFill>
                  <a:srgbClr val="30302B"/>
                </a:solidFill>
                <a:latin typeface="Aptos"/>
              </a:rPr>
              <a:t>Total electricity used in one month.</a:t>
            </a:r>
          </a:p>
          <a:p>
            <a:r>
              <a:rPr sz="1100" b="0">
                <a:solidFill>
                  <a:srgbClr val="30302B"/>
                </a:solidFill>
                <a:latin typeface="Aptos"/>
              </a:rPr>
              <a:t>Example: 250 MWh/month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55848"/>
            <a:ext cx="5257800" cy="1298448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355848"/>
            <a:ext cx="54864" cy="1298448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3538728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557016"/>
            <a:ext cx="43891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6946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20440"/>
            <a:ext cx="4389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Fuel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977639"/>
            <a:ext cx="4873752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100" b="0">
                <a:solidFill>
                  <a:srgbClr val="30302B"/>
                </a:solidFill>
                <a:latin typeface="Aptos"/>
              </a:rPr>
              <a:t>Total fuel used in one month.</a:t>
            </a:r>
          </a:p>
          <a:p>
            <a:r>
              <a:rPr sz="1100" b="0">
                <a:solidFill>
                  <a:srgbClr val="30302B"/>
                </a:solidFill>
                <a:latin typeface="Aptos"/>
              </a:rPr>
              <a:t>Example: 5,000 litres/month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3355848"/>
            <a:ext cx="5257800" cy="1298448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81928" y="3355848"/>
            <a:ext cx="54864" cy="1298448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46520" y="3538728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557016"/>
            <a:ext cx="438912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6946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520440"/>
            <a:ext cx="43891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Transport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977639"/>
            <a:ext cx="4873752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000" b="0">
                <a:solidFill>
                  <a:srgbClr val="30302B"/>
                </a:solidFill>
                <a:latin typeface="Aptos"/>
              </a:rPr>
              <a:t>Combined vehicle distance in one month.</a:t>
            </a:r>
          </a:p>
          <a:p>
            <a:r>
              <a:rPr sz="1000" b="0">
                <a:solidFill>
                  <a:srgbClr val="30302B"/>
                </a:solidFill>
                <a:latin typeface="Aptos"/>
              </a:rPr>
              <a:t>Example: 100,000 vehicle-km/month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66360"/>
            <a:ext cx="10881360" cy="685800"/>
          </a:xfrm>
          <a:prstGeom prst="roundRect">
            <a:avLst/>
          </a:prstGeom>
          <a:solidFill>
            <a:srgbClr val="E1EDD5"/>
          </a:solidFill>
          <a:ln>
            <a:solidFill>
              <a:srgbClr val="3E6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321808"/>
            <a:ext cx="1042416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E6F4B"/>
                </a:solidFill>
                <a:latin typeface="Aptos"/>
              </a:rPr>
              <a:t>Target: synthetic monthly emissions estimate  •  Display unit: tonnes CO₂e/month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Synthetic records are useful for learning; they are not measurements from real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How the model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Each step is carried out in order so the same pipeline can be reused by the website.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4864" cy="16002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Load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Read saved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9384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67128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67128" y="2240280"/>
            <a:ext cx="54864" cy="16002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51760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76856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Select inputs + target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93592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31336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31336" y="2240280"/>
            <a:ext cx="54864" cy="16002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15968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2776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4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Train and test sets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57800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95544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95544" y="2240280"/>
            <a:ext cx="54864" cy="16002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980176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0176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6983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StandardScaler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22008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159752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59752" y="2240280"/>
            <a:ext cx="54864" cy="16002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44383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383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Train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Elastic Net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586216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823960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823960" y="2240280"/>
            <a:ext cx="54864" cy="160020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08592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08592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Evaluate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33688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R², MAE, RMSE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250424" y="3035808"/>
            <a:ext cx="20116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488168" y="2240280"/>
            <a:ext cx="1417320" cy="16002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488168" y="2240280"/>
            <a:ext cx="54864" cy="160020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972800" y="2395728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972800" y="2395728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9608" y="2816352"/>
            <a:ext cx="123444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Save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97896" y="3200400"/>
            <a:ext cx="118872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0302B"/>
                </a:solidFill>
                <a:latin typeface="Aptos"/>
              </a:rPr>
              <a:t>Store fitted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4343400"/>
            <a:ext cx="10789920" cy="4572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Important: the scaler is fitted on training data only, then reused for test data and new predictions.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86052"/>
                </a:solidFill>
                <a:latin typeface="Aptos"/>
              </a:rPr>
              <a:t>This keeps the training and website input preparation consistent and avoids using test data to fit the scaler.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The browser sends values to Flask; Flask calls the saved ML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48840"/>
            <a:ext cx="1965960" cy="18288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148840"/>
            <a:ext cx="54864" cy="18288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1288" y="2331720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331720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743200"/>
            <a:ext cx="173736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82112"/>
            <a:ext cx="1627632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0302B"/>
                </a:solidFill>
                <a:latin typeface="Aptos"/>
              </a:rPr>
              <a:t>Population
Electricity
Fuel
Transport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95728" y="3063240"/>
            <a:ext cx="29260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2148840"/>
            <a:ext cx="1965960" cy="18288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2148840"/>
            <a:ext cx="54864" cy="18288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93008" y="2331720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3008" y="2331720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743200"/>
            <a:ext cx="173736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WEB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3182112"/>
            <a:ext cx="1627632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0302B"/>
                </a:solidFill>
                <a:latin typeface="Aptos"/>
              </a:rPr>
              <a:t>HTML / CSS
JavaScript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27448" y="3063240"/>
            <a:ext cx="29260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74920" y="2148840"/>
            <a:ext cx="1965960" cy="18288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74920" y="2148840"/>
            <a:ext cx="54864" cy="18288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24728" y="2331720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24728" y="2331720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2743200"/>
            <a:ext cx="173736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FLASK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3182112"/>
            <a:ext cx="1627632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0302B"/>
                </a:solidFill>
                <a:latin typeface="Aptos"/>
              </a:rPr>
              <a:t>Validate
/predict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59168" y="3063240"/>
            <a:ext cx="292607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06640" y="2148840"/>
            <a:ext cx="1965960" cy="18288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06640" y="2148840"/>
            <a:ext cx="54864" cy="182880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56448" y="2331720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56448" y="2331720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7" y="2743200"/>
            <a:ext cx="173736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ML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3182112"/>
            <a:ext cx="1627632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0302B"/>
                </a:solidFill>
                <a:latin typeface="Aptos"/>
              </a:rPr>
              <a:t>Preprocessing
StandardScaler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90888" y="3063240"/>
            <a:ext cx="292608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738360" y="2148840"/>
            <a:ext cx="1965960" cy="182880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738360" y="2148840"/>
            <a:ext cx="54864" cy="182880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488168" y="2331720"/>
            <a:ext cx="438912" cy="34747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88168" y="2331720"/>
            <a:ext cx="4389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2743200"/>
            <a:ext cx="1737360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30302B"/>
                </a:solidFill>
                <a:latin typeface="Aptos"/>
              </a:rPr>
              <a:t>ELASTIC 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3182112"/>
            <a:ext cx="1627632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0302B"/>
                </a:solidFill>
                <a:latin typeface="Aptos"/>
              </a:rPr>
              <a:t>Estimate
monthly CO₂e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617720"/>
            <a:ext cx="105156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343027"/>
                </a:solidFill>
                <a:latin typeface="Aptos"/>
              </a:rPr>
              <a:t>Output: a monthly estimate and an illustrative category shown on the CarbonWise page.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86052"/>
                </a:solidFill>
                <a:latin typeface="Aptos"/>
              </a:rPr>
              <a:t>The browser does not train the model. It sends inputs to the saved model through the backend.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The algorithm in simple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Elastic Net is selected because the project focuses on regression and feature scaling.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29000" cy="1874519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864" cy="1874519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20116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0299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9933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Elastic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50592"/>
            <a:ext cx="3044952" cy="11429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Predicts a number rather than a class. It combines two kinds of regularisation.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429000" cy="1874519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54864" cy="1874519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53712" y="20116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20299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9933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L1 + 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450592"/>
            <a:ext cx="3044952" cy="11429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L1 can reduce some coefficients. L2 helps keep coefficients from becoming too large.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28800"/>
            <a:ext cx="3429000" cy="1874519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54864" cy="1874519"/>
          </a:xfrm>
          <a:prstGeom prst="rect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57031" y="201168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02996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68915C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1993392"/>
            <a:ext cx="25603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StandardScaler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450592"/>
            <a:ext cx="3044952" cy="114299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Puts inputs on comparable scales because people, MWh, litres and vehicle-km differ.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106070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43027"/>
                </a:solidFill>
                <a:latin typeface="Aptos"/>
              </a:rPr>
              <a:t>Evaluation uses three common measures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54880"/>
            <a:ext cx="3291840" cy="9601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754880"/>
            <a:ext cx="54864" cy="96012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41832" y="49377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49560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4919472"/>
            <a:ext cx="24231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R²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5376672"/>
            <a:ext cx="290779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How well the model explains variation.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754880"/>
            <a:ext cx="3291840" cy="9601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4754880"/>
            <a:ext cx="54864" cy="96012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99431" y="49377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99431" y="49560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4919472"/>
            <a:ext cx="24231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MAE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7" y="5376672"/>
            <a:ext cx="290779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Average absolute prediction error.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754880"/>
            <a:ext cx="3291840" cy="96012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2440" y="4754880"/>
            <a:ext cx="54864" cy="960120"/>
          </a:xfrm>
          <a:prstGeom prst="rect">
            <a:avLst/>
          </a:prstGeom>
          <a:solidFill>
            <a:srgbClr val="A35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257031" y="49377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57031" y="49560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A35841"/>
                </a:solidFill>
                <a:latin typeface="Aptos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4919472"/>
            <a:ext cx="242316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RMSE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8" y="5376672"/>
            <a:ext cx="2907792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Gives more weight to larger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From model to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The model is trained separately and then connected to the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2029968" cy="192024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2148840"/>
            <a:ext cx="54864" cy="192024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" y="23317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3500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313432"/>
            <a:ext cx="116128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Training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70632"/>
            <a:ext cx="1645920" cy="1188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Loads data, scales features and fits Elastic Net.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4" y="3090672"/>
            <a:ext cx="228600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6080" y="2148840"/>
            <a:ext cx="2029968" cy="192024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0" y="2148840"/>
            <a:ext cx="54864" cy="192024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90672" y="23317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90672" y="23500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313432"/>
            <a:ext cx="116128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Saved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770632"/>
            <a:ext cx="1645920" cy="1188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Stores the fitted pipeline for reuse.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65192" y="3090672"/>
            <a:ext cx="228600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30368" y="2148840"/>
            <a:ext cx="2029968" cy="192024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30368" y="2148840"/>
            <a:ext cx="54864" cy="192024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94959" y="23317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59" y="23500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13432"/>
            <a:ext cx="116128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Flask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2770632"/>
            <a:ext cx="1645920" cy="1188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Receives and checks values sent by the browser.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79" y="3090672"/>
            <a:ext cx="228600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34656" y="2148840"/>
            <a:ext cx="2029968" cy="192024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34656" y="2148840"/>
            <a:ext cx="54864" cy="192024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99248" y="23317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99248" y="23500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313432"/>
            <a:ext cx="116128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JavaScript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770632"/>
            <a:ext cx="1645920" cy="1188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Sends the request and reads the response.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73768" y="3090672"/>
            <a:ext cx="228600" cy="0"/>
          </a:xfrm>
          <a:prstGeom prst="line">
            <a:avLst/>
          </a:prstGeom>
          <a:ln w="25400">
            <a:solidFill>
              <a:srgbClr val="3E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38944" y="2148840"/>
            <a:ext cx="2029968" cy="192024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38944" y="2148840"/>
            <a:ext cx="54864" cy="192024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003536" y="233172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03536" y="235000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2313432"/>
            <a:ext cx="1161288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Result panel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0112" y="2770632"/>
            <a:ext cx="1645920" cy="11887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Displays the estimate returned by the model.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A successful website launch confirms that the application runs; model quality must still be checked with the evaluation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Evaluation and responsible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Report the actual evaluation output; do not estimate or invent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383280" cy="13258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4864" cy="1325880"/>
          </a:xfrm>
          <a:prstGeom prst="rect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19659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947672"/>
            <a:ext cx="25146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R²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04872"/>
            <a:ext cx="2999232" cy="5943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Copy the measured value from evaluate.py.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783080"/>
            <a:ext cx="3383280" cy="13258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1783080"/>
            <a:ext cx="54864" cy="132588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0" y="19659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19842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47672"/>
            <a:ext cx="25146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404872"/>
            <a:ext cx="2999232" cy="5943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Copy the measured value and target unit.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783080"/>
            <a:ext cx="3383280" cy="132588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783080"/>
            <a:ext cx="54864" cy="1325880"/>
          </a:xfrm>
          <a:prstGeom prst="rect">
            <a:avLst/>
          </a:prstGeom>
          <a:solidFill>
            <a:srgbClr val="A35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02752" y="196596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198424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A35841"/>
                </a:solidFill>
                <a:latin typeface="Aptos"/>
              </a:rPr>
              <a:t>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1947672"/>
            <a:ext cx="25146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2404872"/>
            <a:ext cx="2999232" cy="594359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052"/>
                </a:solidFill>
                <a:latin typeface="Aptos"/>
              </a:rPr>
              <a:t>Copy the measured value and target unit.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20440"/>
            <a:ext cx="50292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E6F4B"/>
                </a:solidFill>
                <a:latin typeface="Aptos"/>
              </a:rPr>
              <a:t>What the current prototype can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77639"/>
            <a:ext cx="4892040" cy="1143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3027"/>
                </a:solidFill>
                <a:latin typeface="Aptos"/>
              </a:rPr>
              <a:t>It accepts four area activity inputs, runs a saved regression pipeline and displays a monthly estimate through a web interface.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20440"/>
            <a:ext cx="50292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A35841"/>
                </a:solidFill>
                <a:latin typeface="Aptos"/>
              </a:rPr>
              <a:t>What it cannot claim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77639"/>
            <a:ext cx="4892040" cy="1143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3027"/>
                </a:solidFill>
                <a:latin typeface="Aptos"/>
              </a:rPr>
              <a:t>The dataset is synthetic. Scores on it do not prove accuracy for real locations or replace an official emissions inventory.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10698480" cy="18288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E6F4B"/>
                </a:solidFill>
                <a:latin typeface="Aptos"/>
              </a:rPr>
              <a:t>Next step: test with a validated real-world dataset and documented emission factors.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201400" y="164592"/>
            <a:ext cx="256032" cy="109728"/>
          </a:xfrm>
          <a:prstGeom prst="ellipse">
            <a:avLst/>
          </a:prstGeom>
          <a:solidFill>
            <a:srgbClr val="3E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65992" y="292608"/>
            <a:ext cx="228600" cy="100584"/>
          </a:xfrm>
          <a:prstGeom prst="ellipse">
            <a:avLst/>
          </a:prstGeom>
          <a:solidFill>
            <a:srgbClr val="68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78992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343027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60120"/>
            <a:ext cx="11018520" cy="13716"/>
          </a:xfrm>
          <a:prstGeom prst="rect">
            <a:avLst/>
          </a:prstGeom>
          <a:solidFill>
            <a:srgbClr val="CCB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10881360" cy="53035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052"/>
                </a:solidFill>
                <a:latin typeface="Aptos"/>
              </a:rPr>
              <a:t>CarbonWise demonstrates how machine learning can be connected to a usable sustainability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6052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3E6F4B"/>
                </a:solidFill>
                <a:latin typeface="Aptos"/>
              </a:rPr>
              <a:t>One clear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120640" cy="1051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43027"/>
                </a:solidFill>
                <a:latin typeface="Aptos"/>
              </a:rPr>
              <a:t>Activity inputs → data preparation → feature scaling → Elastic Net → website result.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303520" cy="548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3E6F4B"/>
                </a:solidFill>
                <a:latin typeface="Aptos"/>
              </a:rPr>
              <a:t>The value of the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5212080" cy="10058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3027"/>
                </a:solidFill>
                <a:latin typeface="Aptos"/>
              </a:rPr>
              <a:t>It helps students understand regression, model evaluation and web integration in one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4754880" cy="3566160"/>
          </a:xfrm>
          <a:prstGeom prst="roundRect">
            <a:avLst/>
          </a:prstGeom>
          <a:solidFill>
            <a:srgbClr val="FFFAF1"/>
          </a:solidFill>
          <a:ln>
            <a:solidFill>
              <a:srgbClr val="CCB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645920"/>
            <a:ext cx="54864" cy="3566160"/>
          </a:xfrm>
          <a:prstGeom prst="rect">
            <a:avLst/>
          </a:prstGeom>
          <a:solidFill>
            <a:srgbClr val="C58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56831" y="1828800"/>
            <a:ext cx="438912" cy="438912"/>
          </a:xfrm>
          <a:prstGeom prst="ellipse">
            <a:avLst/>
          </a:prstGeom>
          <a:solidFill>
            <a:srgbClr val="E1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1" y="1847088"/>
            <a:ext cx="438912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58F46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1810512"/>
            <a:ext cx="388620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3027"/>
                </a:solidFill>
                <a:latin typeface="Aptos"/>
              </a:rPr>
              <a:t>NEXT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331720"/>
            <a:ext cx="4160520" cy="2606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00" b="0">
                <a:solidFill>
                  <a:srgbClr val="30302B"/>
                </a:solidFill>
                <a:latin typeface="Aptos"/>
              </a:rPr>
              <a:t>Use verified real-world data.</a:t>
            </a:r>
          </a:p>
          <a:p>
            <a:endParaRPr sz="1300" b="0">
              <a:solidFill>
                <a:srgbClr val="30302B"/>
              </a:solidFill>
              <a:latin typeface="Aptos"/>
            </a:endParaRPr>
          </a:p>
          <a:p>
            <a:r>
              <a:rPr sz="1300" b="0">
                <a:solidFill>
                  <a:srgbClr val="30302B"/>
                </a:solidFill>
                <a:latin typeface="Aptos"/>
              </a:rPr>
              <a:t>Compare models fairly.</a:t>
            </a:r>
          </a:p>
          <a:p>
            <a:endParaRPr sz="1300" b="0">
              <a:solidFill>
                <a:srgbClr val="30302B"/>
              </a:solidFill>
              <a:latin typeface="Aptos"/>
            </a:endParaRPr>
          </a:p>
          <a:p>
            <a:r>
              <a:rPr sz="1300" b="0">
                <a:solidFill>
                  <a:srgbClr val="30302B"/>
                </a:solidFill>
                <a:latin typeface="Aptos"/>
              </a:rPr>
              <a:t>Add clear charts and uncertainty information.</a:t>
            </a:r>
          </a:p>
          <a:p>
            <a:endParaRPr sz="1300" b="0">
              <a:solidFill>
                <a:srgbClr val="30302B"/>
              </a:solidFill>
              <a:latin typeface="Aptos"/>
            </a:endParaRPr>
          </a:p>
          <a:p>
            <a:r>
              <a:rPr sz="1300" b="0">
                <a:solidFill>
                  <a:srgbClr val="30302B"/>
                </a:solidFill>
                <a:latin typeface="Aptos"/>
              </a:rPr>
              <a:t>Document emission factors and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24128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E6F4B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1058</Words>
  <Application>Microsoft Office PowerPoint</Application>
  <PresentationFormat>Widescreen</PresentationFormat>
  <Paragraphs>221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CarbonWise | Reference-Style Case Study Presentation</dc:title>
  <dc:subject>Carbon emission prediction using Elastic Net Regression and feature scaling</dc:subject>
  <dc:creator>CarbonWise Project Team</dc:creator>
  <cp:keywords/>
  <dc:description>generated using python-pptx</dc:description>
  <cp:lastModifiedBy>sai nath reddy</cp:lastModifiedBy>
  <cp:revision>2</cp:revision>
  <dcterms:created xsi:type="dcterms:W3CDTF">2013-01-27T09:14:16Z</dcterms:created>
  <dcterms:modified xsi:type="dcterms:W3CDTF">2026-10-13T12:08:11Z</dcterms:modified>
  <cp:category/>
</cp:coreProperties>
</file>